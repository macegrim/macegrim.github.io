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80" r:id="rId4"/>
    <p:sldId id="257" r:id="rId5"/>
    <p:sldId id="267" r:id="rId6"/>
    <p:sldId id="279" r:id="rId7"/>
    <p:sldId id="265" r:id="rId8"/>
    <p:sldId id="273" r:id="rId9"/>
    <p:sldId id="264" r:id="rId10"/>
    <p:sldId id="268" r:id="rId11"/>
    <p:sldId id="270" r:id="rId12"/>
    <p:sldId id="271" r:id="rId13"/>
    <p:sldId id="272" r:id="rId14"/>
    <p:sldId id="274" r:id="rId15"/>
    <p:sldId id="278" r:id="rId16"/>
    <p:sldId id="276" r:id="rId17"/>
    <p:sldId id="275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AA8C"/>
    <a:srgbClr val="87867F"/>
    <a:srgbClr val="D97757"/>
    <a:srgbClr val="F5F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4"/>
  </p:normalViewPr>
  <p:slideViewPr>
    <p:cSldViewPr snapToGrid="0">
      <p:cViewPr varScale="1">
        <p:scale>
          <a:sx n="114" d="100"/>
          <a:sy n="114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6F65EB2-6B9B-D7EE-3441-E15F2A0FC8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041504-8B4B-3A03-3215-45C6042BC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C12AA-0F9A-4F8D-C69E-B9605D3F4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BE979-9675-21D1-402B-24DBD5E9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233-849F-4B94-BC25-CCD10B0C39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C6F8A-7F27-29AB-9F99-C3059984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38DA2-A442-53A8-28B6-F7CD4AE3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D59A-D682-47EC-8EAD-89CBF4547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CD00803-B480-4C0E-6656-138186CDED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1738FE-1CE6-5748-AE03-F01B5FD1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9F1CA-F4EC-7449-6ACF-B529C06D8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3DB67-F89A-2528-7BD8-1416745F8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233-849F-4B94-BC25-CCD10B0C39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A19F1-1E0B-20E7-E507-AEDC1F569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2284-0B48-AB03-A8D6-87A4AFBA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D59A-D682-47EC-8EAD-89CBF4547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5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8B901B-17E8-93FC-5D3B-84364352B9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86817D-2151-F20B-C9C1-E8C3B93A2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F0CAB-01E0-399B-E2B9-95B055877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3CB72-A05A-5276-95C4-83ECDC2E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233-849F-4B94-BC25-CCD10B0C39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C1FEE-FF74-7FE4-14EB-89712E557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1E311-E1D2-AB87-34BD-A80B50D9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D59A-D682-47EC-8EAD-89CBF4547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6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4E6047-467C-9649-75A7-B0BC938E7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D4F8E5-751B-423F-25B2-3C7DE1859AF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5F3ED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BEB8-0D3C-2559-09CF-B83CD9FD6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7DF52-0253-5368-C515-A4AA46A7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24D1D-F080-F299-8673-D691E299E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233-849F-4B94-BC25-CCD10B0C39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7B4B-9EF3-0E9F-8176-173B65BE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E4D74-ECC7-E941-6462-A2C8CA68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D59A-D682-47EC-8EAD-89CBF4547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25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64F48EE-1E2B-3052-E287-FAF4B276DA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3191BE-7359-8653-FD0A-4DF22ECAD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solidFill>
            <a:srgbClr val="F5F3ED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919F1-9BC2-BF43-AC12-9695869C9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5B5C6-F655-B448-AEB2-C4C29CB0D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73ECA-3077-AC56-C98C-5B4D3F185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48F5FD-DE10-03B6-C6C2-014D955A9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2486F-126A-C6F6-794A-D819CCB4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233-849F-4B94-BC25-CCD10B0C39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B10DE-A0B3-3C97-72E8-90865D70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F3208D-3B24-0E4F-35F6-2736BCC9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D59A-D682-47EC-8EAD-89CBF4547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2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3D10F4-76C5-E530-2393-C2D79C2E0C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2AC978-3AD1-5AE6-A4A8-ECE34554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16B9E1-DD74-EA70-2538-63872DF2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233-849F-4B94-BC25-CCD10B0C39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BD5C1-23FB-75D4-FAD3-E323C2D15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59C6C-8C34-E816-1353-89F2CF3D6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D59A-D682-47EC-8EAD-89CBF4547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0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476C2CC-16FF-DA75-4EE3-F828D594B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8EBAB6-0691-B40A-738D-4F1ACEBA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F04A-8D5A-C09F-104F-EB1676B67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4129F-33AF-2DAD-1BB4-D7F864CB4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75335-15D3-059E-7B04-9717C71F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233-849F-4B94-BC25-CCD10B0C39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231F9-16E8-4184-AFCE-759894CB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08EEA-DF82-0A7C-4DDF-E04622FE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D59A-D682-47EC-8EAD-89CBF4547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5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A7F28A-FE6D-F0C7-F0D9-BEE37780E7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041504-8B4B-3A03-3215-45C6042BC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C12AA-0F9A-4F8D-C69E-B9605D3F4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BE979-9675-21D1-402B-24DBD5E9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233-849F-4B94-BC25-CCD10B0C39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C6F8A-7F27-29AB-9F99-C3059984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38DA2-A442-53A8-28B6-F7CD4AE3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D59A-D682-47EC-8EAD-89CBF4547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0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69B59-3AC3-CC21-90C4-D3EB8B9EA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B0ED8-0B06-79BC-C896-007FEA883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52E12-0AAC-5665-41EB-CD56B1F50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5233-849F-4B94-BC25-CCD10B0C39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4C56-DA63-9F76-C793-34D1334E1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59DEE-B673-5B28-37C6-DDA1F4F15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FD59A-D682-47EC-8EAD-89CBF4547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4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7596-05FB-E66A-D915-BACB6E90D3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Vibe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73465-EFDD-CDF8-518E-48FA50C12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or Agentic Development if you’re fancy</a:t>
            </a:r>
          </a:p>
          <a:p>
            <a:endParaRPr lang="en-US" dirty="0"/>
          </a:p>
          <a:p>
            <a:r>
              <a:rPr lang="en-US" dirty="0"/>
              <a:t>Mason Grimshaw</a:t>
            </a:r>
          </a:p>
        </p:txBody>
      </p:sp>
    </p:spTree>
    <p:extLst>
      <p:ext uri="{BB962C8B-B14F-4D97-AF65-F5344CB8AC3E}">
        <p14:creationId xmlns:p14="http://schemas.microsoft.com/office/powerpoint/2010/main" val="591530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9F35-B491-0D55-BDEF-D780002F9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80EB-C3BA-FC8B-FE58-A3AB81661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952" y="1709738"/>
            <a:ext cx="6636497" cy="2852737"/>
          </a:xfrm>
        </p:spPr>
        <p:txBody>
          <a:bodyPr/>
          <a:lstStyle/>
          <a:p>
            <a:r>
              <a:rPr lang="en-US" dirty="0"/>
              <a:t>Mason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9A0F0-3310-C55B-F882-482DA2A92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0952" y="4589463"/>
            <a:ext cx="6636498" cy="1500187"/>
          </a:xfrm>
        </p:spPr>
        <p:txBody>
          <a:bodyPr/>
          <a:lstStyle/>
          <a:p>
            <a:r>
              <a:rPr lang="en-US" dirty="0"/>
              <a:t>MIT, AI Engineer at Ode, VP at </a:t>
            </a:r>
            <a:r>
              <a:rPr lang="en-US" dirty="0" err="1"/>
              <a:t>IndigiGenius</a:t>
            </a:r>
            <a:endParaRPr lang="en-US" dirty="0"/>
          </a:p>
          <a:p>
            <a:r>
              <a:rPr lang="en-US" dirty="0"/>
              <a:t>Building agentic chatbots and vibe coding for over a year</a:t>
            </a:r>
          </a:p>
        </p:txBody>
      </p:sp>
      <p:pic>
        <p:nvPicPr>
          <p:cNvPr id="1026" name="Picture 2" descr="Mason Grimshaw">
            <a:extLst>
              <a:ext uri="{FF2B5EF4-FFF2-40B4-BE49-F238E27FC236}">
                <a16:creationId xmlns:a16="http://schemas.microsoft.com/office/drawing/2014/main" id="{F2E6C1C4-EA13-66E6-CB49-0979D483A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011" y="1212850"/>
            <a:ext cx="3248025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04A78B-AAD0-B2FE-44F1-CD84F61FB0E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4304" y="2376171"/>
            <a:ext cx="2119547" cy="210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6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E2BF7E-C706-E79E-D0D6-AD66CB27E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" t="2765" r="4616" b="4715"/>
          <a:stretch>
            <a:fillRect/>
          </a:stretch>
        </p:blipFill>
        <p:spPr>
          <a:xfrm>
            <a:off x="3603703" y="123366"/>
            <a:ext cx="4984594" cy="661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A49D-121A-80B3-8CC2-4A4A4CA6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We’re Going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E4580-D163-2D78-63E3-CA04FEF8F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 Demo</a:t>
            </a:r>
          </a:p>
          <a:p>
            <a:endParaRPr lang="en-US" dirty="0"/>
          </a:p>
          <a:p>
            <a:r>
              <a:rPr lang="en-US" dirty="0"/>
              <a:t>What Vibe Coding is</a:t>
            </a:r>
          </a:p>
          <a:p>
            <a:endParaRPr lang="en-US" dirty="0"/>
          </a:p>
          <a:p>
            <a:r>
              <a:rPr lang="en-US" dirty="0"/>
              <a:t>What Vibe Coding isn’t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Demos</a:t>
            </a:r>
          </a:p>
        </p:txBody>
      </p:sp>
      <p:pic>
        <p:nvPicPr>
          <p:cNvPr id="2050" name="Picture 2" descr="yes icon">
            <a:extLst>
              <a:ext uri="{FF2B5EF4-FFF2-40B4-BE49-F238E27FC236}">
                <a16:creationId xmlns:a16="http://schemas.microsoft.com/office/drawing/2014/main" id="{F0EFF7E3-3AD7-BB92-F135-AF5828D14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227" y="2750858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emo icon">
            <a:extLst>
              <a:ext uri="{FF2B5EF4-FFF2-40B4-BE49-F238E27FC236}">
                <a16:creationId xmlns:a16="http://schemas.microsoft.com/office/drawing/2014/main" id="{3BE06507-F338-D267-94E0-3924A2499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587" y="1613649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x icon">
            <a:extLst>
              <a:ext uri="{FF2B5EF4-FFF2-40B4-BE49-F238E27FC236}">
                <a16:creationId xmlns:a16="http://schemas.microsoft.com/office/drawing/2014/main" id="{9041F3F3-EAD9-A7A6-CB49-FCC54B7DD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119" y="3778329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uild icon">
            <a:extLst>
              <a:ext uri="{FF2B5EF4-FFF2-40B4-BE49-F238E27FC236}">
                <a16:creationId xmlns:a16="http://schemas.microsoft.com/office/drawing/2014/main" id="{3151FC28-680E-B4FA-ED58-1D4BB8F71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587" y="4764779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86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6E3C-0365-82FB-AD4D-50D77874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48AB-5CF0-268A-EB57-86B348C9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FFA04-B173-64D4-BB54-E2590CF67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Landing Page for This Session</a:t>
            </a:r>
          </a:p>
        </p:txBody>
      </p:sp>
      <p:pic>
        <p:nvPicPr>
          <p:cNvPr id="4" name="Picture 4" descr="demo icon">
            <a:extLst>
              <a:ext uri="{FF2B5EF4-FFF2-40B4-BE49-F238E27FC236}">
                <a16:creationId xmlns:a16="http://schemas.microsoft.com/office/drawing/2014/main" id="{702F8DD3-9617-D2BE-D61F-53BEB2D71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712" y="3641715"/>
            <a:ext cx="1322293" cy="132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34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CD65D-9887-9F1A-4157-9994BE9F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5E913-87C9-B80D-9BD2-355ECAC6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Installs (the most boring slide)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A0D1B-63B4-0098-A417-49F725983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58188"/>
          </a:xfrm>
        </p:spPr>
        <p:txBody>
          <a:bodyPr/>
          <a:lstStyle/>
          <a:p>
            <a:r>
              <a:rPr lang="en-US" dirty="0"/>
              <a:t>Mac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E07F8-1FA2-4227-1E14-BC1BDA576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8361"/>
            <a:ext cx="5157787" cy="39813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⌘+Space  and type   "Terminal“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nodejs.org → LTS → run .pkg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git --version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install -g @openai/codex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274C0-0FA5-FB3B-A094-0ABAAC4F1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58188"/>
          </a:xfrm>
        </p:spPr>
        <p:txBody>
          <a:bodyPr/>
          <a:lstStyle/>
          <a:p>
            <a:r>
              <a:rPr lang="en-US" dirty="0"/>
              <a:t>Windows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F39B4-7EF2-4A2C-0424-95D9C293A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8361"/>
            <a:ext cx="5183188" cy="39813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Win key   and type  "PowerShell“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nodejs.org → LTS → run .</a:t>
            </a:r>
            <a:r>
              <a:rPr lang="en-US" dirty="0" err="1"/>
              <a:t>msi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git-scm.com → run installer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install -g @openai/codex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AE6DB4-23A5-831C-773C-7C4854456D73}"/>
              </a:ext>
            </a:extLst>
          </p:cNvPr>
          <p:cNvSpPr txBox="1"/>
          <p:nvPr/>
        </p:nvSpPr>
        <p:spPr>
          <a:xfrm>
            <a:off x="3147146" y="6189662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codex → "Use API key" → paste (⌘+V)</a:t>
            </a:r>
          </a:p>
        </p:txBody>
      </p:sp>
    </p:spTree>
    <p:extLst>
      <p:ext uri="{BB962C8B-B14F-4D97-AF65-F5344CB8AC3E}">
        <p14:creationId xmlns:p14="http://schemas.microsoft.com/office/powerpoint/2010/main" val="272639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7D848-A9B1-E4B5-3CA6-5B7213E99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98B3E7-8596-6997-F12A-39874300F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73" y="1287184"/>
            <a:ext cx="5457482" cy="42836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37614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7E304-A1B2-E5BF-8D6D-18B94FBFF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54EE-2A67-3AAD-8BE3-57CED12A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 101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72883-63BF-2FCC-173B-8EA8656D3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825625"/>
            <a:ext cx="10331824" cy="48217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LLMs are very intelligent interns with no institutional knowledge and very bad memories.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28C1398-A28F-625D-1128-D3E16A36D1D0}"/>
              </a:ext>
            </a:extLst>
          </p:cNvPr>
          <p:cNvGrpSpPr/>
          <p:nvPr/>
        </p:nvGrpSpPr>
        <p:grpSpPr>
          <a:xfrm>
            <a:off x="487699" y="2911059"/>
            <a:ext cx="11216601" cy="3614272"/>
            <a:chOff x="447716" y="2827129"/>
            <a:chExt cx="11216601" cy="361427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CD26E54-DB22-BB7C-26F6-5001476FCB81}"/>
                </a:ext>
              </a:extLst>
            </p:cNvPr>
            <p:cNvSpPr/>
            <p:nvPr/>
          </p:nvSpPr>
          <p:spPr>
            <a:xfrm>
              <a:off x="8050046" y="2827130"/>
              <a:ext cx="3614271" cy="3614271"/>
            </a:xfrm>
            <a:prstGeom prst="roundRect">
              <a:avLst/>
            </a:prstGeom>
            <a:solidFill>
              <a:srgbClr val="8CAA8C"/>
            </a:solidFill>
            <a:ln>
              <a:solidFill>
                <a:srgbClr val="8CA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Tools: </a:t>
              </a:r>
              <a:r>
                <a:rPr lang="en-US" dirty="0"/>
                <a:t>What they can do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dirty="0"/>
                <a:t>Tools are about going beyond text and having deterministic functions that enable interaction with the real world. </a:t>
              </a:r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Calculators, web search, and running code are all tools.</a:t>
              </a:r>
            </a:p>
            <a:p>
              <a:pPr algn="ctr"/>
              <a:endParaRPr lang="en-US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B2A1877-352D-45BC-635C-5C7B276F3389}"/>
                </a:ext>
              </a:extLst>
            </p:cNvPr>
            <p:cNvSpPr/>
            <p:nvPr/>
          </p:nvSpPr>
          <p:spPr>
            <a:xfrm>
              <a:off x="4248881" y="2827129"/>
              <a:ext cx="3614271" cy="3614271"/>
            </a:xfrm>
            <a:prstGeom prst="roundRect">
              <a:avLst/>
            </a:prstGeom>
            <a:solidFill>
              <a:srgbClr val="87867F"/>
            </a:solidFill>
            <a:ln>
              <a:solidFill>
                <a:srgbClr val="8786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Training: </a:t>
              </a:r>
              <a:r>
                <a:rPr lang="en-US" dirty="0"/>
                <a:t>What they can remember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dirty="0"/>
                <a:t>Roughly, the public internet up to some date. Usually about 6 months ago. This persists across sessions. Without intention, it can confidently give outdated answers</a:t>
              </a:r>
            </a:p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4B98217-3BF9-D5D9-E8CB-AB5204A84B03}"/>
                </a:ext>
              </a:extLst>
            </p:cNvPr>
            <p:cNvSpPr/>
            <p:nvPr/>
          </p:nvSpPr>
          <p:spPr>
            <a:xfrm>
              <a:off x="447716" y="2827129"/>
              <a:ext cx="3614271" cy="3614271"/>
            </a:xfrm>
            <a:prstGeom prst="roundRect">
              <a:avLst/>
            </a:prstGeom>
            <a:solidFill>
              <a:srgbClr val="D97757"/>
            </a:solidFill>
            <a:ln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Context: </a:t>
              </a:r>
              <a:r>
                <a:rPr lang="en-US" dirty="0"/>
                <a:t>What your model knows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dirty="0"/>
                <a:t>Everything in your conversation, your prompt, prior messages, files, tool outputs, system prompts</a:t>
              </a:r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This does not persist across sessions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4407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C4307-4A81-A815-DA0C-7D3BDE46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38CF-316A-3F8C-A906-70B73B17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Vibe Coding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0DA31-414D-8D20-3FB3-67626F889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825625"/>
            <a:ext cx="10331824" cy="48217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best versions of Vibe Coding have an inquisitive human and an AI on a short leash.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1. State the goal</a:t>
            </a:r>
          </a:p>
          <a:p>
            <a:pPr marL="0" indent="0">
              <a:buNone/>
            </a:pPr>
            <a:r>
              <a:rPr lang="en-US" dirty="0"/>
              <a:t>2. Give context and constraints</a:t>
            </a:r>
          </a:p>
          <a:p>
            <a:pPr marL="0" indent="0">
              <a:buNone/>
            </a:pPr>
            <a:r>
              <a:rPr lang="en-US" dirty="0"/>
              <a:t>3. Let the agent inspect, </a:t>
            </a:r>
            <a:r>
              <a:rPr lang="en-US" b="1" dirty="0"/>
              <a:t>plan</a:t>
            </a:r>
            <a:r>
              <a:rPr lang="en-US" dirty="0"/>
              <a:t>, and act</a:t>
            </a:r>
          </a:p>
          <a:p>
            <a:pPr marL="0" indent="0">
              <a:buNone/>
            </a:pPr>
            <a:r>
              <a:rPr lang="en-US" dirty="0"/>
              <a:t>4. Review changes</a:t>
            </a:r>
          </a:p>
          <a:p>
            <a:pPr marL="0" indent="0">
              <a:buNone/>
            </a:pPr>
            <a:r>
              <a:rPr lang="en-US" dirty="0"/>
              <a:t>5. Test and verify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 descr="yes icon">
            <a:extLst>
              <a:ext uri="{FF2B5EF4-FFF2-40B4-BE49-F238E27FC236}">
                <a16:creationId xmlns:a16="http://schemas.microsoft.com/office/drawing/2014/main" id="{F0CECA6D-E240-DA74-FC43-DD9619258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929" y="688835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21EA18F-BB0D-FCBA-D790-EB44C810B1A4}"/>
              </a:ext>
            </a:extLst>
          </p:cNvPr>
          <p:cNvSpPr txBox="1">
            <a:spLocks/>
          </p:cNvSpPr>
          <p:nvPr/>
        </p:nvSpPr>
        <p:spPr>
          <a:xfrm>
            <a:off x="2149287" y="5572780"/>
            <a:ext cx="78934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Spec -&gt; Steer -&gt; Inspect -&gt; Verify</a:t>
            </a:r>
          </a:p>
        </p:txBody>
      </p:sp>
    </p:spTree>
    <p:extLst>
      <p:ext uri="{BB962C8B-B14F-4D97-AF65-F5344CB8AC3E}">
        <p14:creationId xmlns:p14="http://schemas.microsoft.com/office/powerpoint/2010/main" val="247477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CF5D-0793-BCAB-67FE-89DBC299B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FAB0-CEB7-3D14-27C8-8AB72F9B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is Critical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349A8-5353-1596-2312-B3FE56FC2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825625"/>
            <a:ext cx="10331824" cy="482170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Planning</a:t>
            </a:r>
            <a:r>
              <a:rPr lang="en-US" dirty="0"/>
              <a:t> is the </a:t>
            </a:r>
            <a:r>
              <a:rPr lang="en-US" b="1" dirty="0"/>
              <a:t>highest leverage </a:t>
            </a:r>
            <a:r>
              <a:rPr lang="en-US" dirty="0"/>
              <a:t>interface point between you and the agent. Treat the plan like a </a:t>
            </a:r>
            <a:r>
              <a:rPr lang="en-US" b="1" dirty="0"/>
              <a:t>contract</a:t>
            </a:r>
            <a:r>
              <a:rPr lang="en-US" dirty="0"/>
              <a:t> and, as best as you can, require </a:t>
            </a:r>
            <a:r>
              <a:rPr lang="en-US" b="1" dirty="0"/>
              <a:t>quantitative or verifiable outputs </a:t>
            </a:r>
            <a:r>
              <a:rPr lang="en-US" dirty="0"/>
              <a:t>from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Often, this looks like a markdown file that you both reference and agree upon, but it can also look like smaller lists of in-context </a:t>
            </a:r>
            <a:r>
              <a:rPr lang="en-US" dirty="0" err="1"/>
              <a:t>todos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People disagree on HOW MUCH planning you should do, but not on the idea that you should.</a:t>
            </a:r>
          </a:p>
        </p:txBody>
      </p:sp>
      <p:pic>
        <p:nvPicPr>
          <p:cNvPr id="4" name="Picture 2" descr="yes icon">
            <a:extLst>
              <a:ext uri="{FF2B5EF4-FFF2-40B4-BE49-F238E27FC236}">
                <a16:creationId xmlns:a16="http://schemas.microsoft.com/office/drawing/2014/main" id="{8A7D4CF7-7C67-8AF2-FDC0-A7558CCFB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929" y="688835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73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B68B-3F03-D992-C6F5-2019EC24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B8F9-C623-D658-F61D-7AA78BE4A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Prompt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601C9-B1EE-629A-48E4-89E4B00FF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Prompt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6490D-C6A0-F2DE-5028-088FCC5C94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Make me a personal website with my name, a bio, and links to </a:t>
            </a:r>
            <a:r>
              <a:rPr lang="en-US" dirty="0" err="1"/>
              <a:t>Github</a:t>
            </a:r>
            <a:r>
              <a:rPr lang="en-US" dirty="0"/>
              <a:t> and LinkedIn. It should look good.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CF22F1-B164-F9D9-CC04-4B82457C1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9068" y="1681163"/>
            <a:ext cx="5183188" cy="823912"/>
          </a:xfrm>
        </p:spPr>
        <p:txBody>
          <a:bodyPr/>
          <a:lstStyle/>
          <a:p>
            <a:r>
              <a:rPr lang="en-US" dirty="0"/>
              <a:t>Breakdown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66FEF-9588-A089-3E6D-BFAA1957F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9068" y="2505075"/>
            <a:ext cx="5183188" cy="4059168"/>
          </a:xfrm>
        </p:spPr>
        <p:txBody>
          <a:bodyPr>
            <a:normAutofit/>
          </a:bodyPr>
          <a:lstStyle/>
          <a:p>
            <a:r>
              <a:rPr lang="en-US" dirty="0"/>
              <a:t>Goal is vague: What is a personal website?</a:t>
            </a:r>
          </a:p>
          <a:p>
            <a:r>
              <a:rPr lang="en-US" dirty="0"/>
              <a:t>No context: Who are you? Where should it link to?</a:t>
            </a:r>
          </a:p>
          <a:p>
            <a:r>
              <a:rPr lang="en-US" dirty="0"/>
              <a:t>No constraints: It’ll probably pick standard frameworks, but it may not</a:t>
            </a:r>
          </a:p>
          <a:p>
            <a:r>
              <a:rPr lang="en-US" dirty="0"/>
              <a:t>No acceptance criteria: “Looks good” doesn’t count</a:t>
            </a:r>
          </a:p>
        </p:txBody>
      </p:sp>
      <p:pic>
        <p:nvPicPr>
          <p:cNvPr id="7" name="Picture 2" descr="yes icon">
            <a:extLst>
              <a:ext uri="{FF2B5EF4-FFF2-40B4-BE49-F238E27FC236}">
                <a16:creationId xmlns:a16="http://schemas.microsoft.com/office/drawing/2014/main" id="{38D684D6-B552-EF86-1210-1B34C8EFA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443" y="688835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211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81CA5-F1C7-1022-8910-F5B0A6A2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89FF0-99E6-5A7E-2603-9075814B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3AD0B-3E90-073A-E2FA-BA74E6687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887469"/>
            <a:ext cx="10331824" cy="423061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[Goal] </a:t>
            </a:r>
            <a:r>
              <a:rPr lang="en-US" sz="1600" dirty="0"/>
              <a:t>Build me a single-page personal landing site.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[Context] </a:t>
            </a:r>
            <a:r>
              <a:rPr lang="en-US" sz="1600" dirty="0"/>
              <a:t>I'm Mason, a data scientist at Ode Partners. This is my "home on the internet" — a page I'll link from email signatures and social bios. Audience is other technical people and potential clients.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[Constraints] </a:t>
            </a:r>
            <a:r>
              <a:rPr lang="en-US" sz="1600" dirty="0"/>
              <a:t>Static HTML + CSS only. No frameworks, no build step, minimal JavaScript. Hosted on GitHub Pages. One index.html + one style.css. Style: warm and personal, not corporate — muted palette, generous whitespace, one accent color.  Mobile-responsive.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[Acceptance criteria] </a:t>
            </a:r>
            <a:r>
              <a:rPr lang="en-US" sz="1600" dirty="0"/>
              <a:t>Page contains (1) my name as the main heading, (2) a 1–2 sentence bio, (3) a profile photo placeholder, (4) four links: GitHub, LinkedIn, Twitter, email. Readable on mobile and desktop. Lighthouse accessibility score &gt; 90.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[Process guidance] </a:t>
            </a:r>
            <a:r>
              <a:rPr lang="en-US" sz="1600" dirty="0"/>
              <a:t>Before writing code, show me your plan as a bulleted list and wait for me to confirm. If you have design questions that would meaningfully change the result, ask — don't guess. Don't add extras I didn't ask for.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[Verification] </a:t>
            </a:r>
            <a:r>
              <a:rPr lang="en-US" sz="1600" dirty="0"/>
              <a:t>After writing the files, describe what index.html will render. Then give me the three commands to deploy to GitHub Pages.</a:t>
            </a:r>
          </a:p>
        </p:txBody>
      </p:sp>
      <p:pic>
        <p:nvPicPr>
          <p:cNvPr id="5" name="Picture 2" descr="yes icon">
            <a:extLst>
              <a:ext uri="{FF2B5EF4-FFF2-40B4-BE49-F238E27FC236}">
                <a16:creationId xmlns:a16="http://schemas.microsoft.com/office/drawing/2014/main" id="{8036FF95-ACCC-93AA-F479-995211A29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88835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B125589-DABE-8D61-E0F2-489E29F889FF}"/>
              </a:ext>
            </a:extLst>
          </p:cNvPr>
          <p:cNvSpPr txBox="1">
            <a:spLocks/>
          </p:cNvSpPr>
          <p:nvPr/>
        </p:nvSpPr>
        <p:spPr>
          <a:xfrm>
            <a:off x="1021976" y="9741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Good</a:t>
            </a:r>
            <a:r>
              <a:rPr lang="en-US" sz="2000" b="1" dirty="0"/>
              <a:t> </a:t>
            </a:r>
            <a:r>
              <a:rPr lang="en-US" sz="2400" b="1" dirty="0"/>
              <a:t>Prompt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31147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B652-0A41-6481-10B2-9AD416E0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DDB2B-7051-45C6-2155-F3E62E5B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1933F-5575-27A3-C054-303954958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825625"/>
            <a:ext cx="10331824" cy="48217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Good agentic guidance is very similar to good prompting.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1. </a:t>
            </a:r>
            <a:r>
              <a:rPr lang="en-US" b="1" dirty="0"/>
              <a:t>Define</a:t>
            </a:r>
            <a:r>
              <a:rPr lang="en-US" dirty="0"/>
              <a:t> the task clearly</a:t>
            </a:r>
          </a:p>
          <a:p>
            <a:pPr marL="0" indent="0">
              <a:buNone/>
            </a:pPr>
            <a:r>
              <a:rPr lang="en-US" dirty="0"/>
              <a:t>2. Add </a:t>
            </a:r>
            <a:r>
              <a:rPr lang="en-US" b="1" dirty="0"/>
              <a:t>guardrails </a:t>
            </a:r>
            <a:r>
              <a:rPr lang="en-US" dirty="0"/>
              <a:t>or </a:t>
            </a:r>
            <a:r>
              <a:rPr lang="en-US" b="1" dirty="0"/>
              <a:t>constraints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Ask for a plan </a:t>
            </a:r>
            <a:r>
              <a:rPr lang="en-US" dirty="0"/>
              <a:t>when the task is non-trivial</a:t>
            </a:r>
          </a:p>
          <a:p>
            <a:pPr marL="0" indent="0">
              <a:buNone/>
            </a:pPr>
            <a:r>
              <a:rPr lang="en-US" dirty="0"/>
              <a:t>4. Execute in </a:t>
            </a:r>
            <a:r>
              <a:rPr lang="en-US" b="1" dirty="0"/>
              <a:t>small steps</a:t>
            </a:r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b="1" dirty="0"/>
              <a:t>Inspect</a:t>
            </a:r>
            <a:r>
              <a:rPr lang="en-US" dirty="0"/>
              <a:t> the diff</a:t>
            </a:r>
          </a:p>
          <a:p>
            <a:pPr marL="0" indent="0">
              <a:buNone/>
            </a:pPr>
            <a:r>
              <a:rPr lang="en-US" dirty="0"/>
              <a:t>6. Run checks</a:t>
            </a:r>
          </a:p>
        </p:txBody>
      </p:sp>
      <p:pic>
        <p:nvPicPr>
          <p:cNvPr id="4" name="Picture 2" descr="yes icon">
            <a:extLst>
              <a:ext uri="{FF2B5EF4-FFF2-40B4-BE49-F238E27FC236}">
                <a16:creationId xmlns:a16="http://schemas.microsoft.com/office/drawing/2014/main" id="{E3082BFF-7003-4F18-BA3E-BDC4694C0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920" y="688835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582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B0E79-4F90-C5E2-5228-D873637E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x icon">
            <a:extLst>
              <a:ext uri="{FF2B5EF4-FFF2-40B4-BE49-F238E27FC236}">
                <a16:creationId xmlns:a16="http://schemas.microsoft.com/office/drawing/2014/main" id="{169F1479-394F-4DD8-40C4-973477B59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288" y="688835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8988E1-C4BC-61BD-B812-04E41AC9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Avoid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0AD28-3E2B-9236-C5FC-24AC9015B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825625"/>
            <a:ext cx="10331824" cy="48217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It’s easy to convince yourself that “it just works”, but you want to improve the probability that your generations work every time.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Skip planning</a:t>
            </a:r>
            <a:r>
              <a:rPr lang="en-US" dirty="0"/>
              <a:t>. You’ll get a feel over time for what needs planning, but it’s a good practice to do as you start.</a:t>
            </a:r>
          </a:p>
          <a:p>
            <a:r>
              <a:rPr lang="en-US" b="1" dirty="0"/>
              <a:t>Getting too far ahead without reviewing</a:t>
            </a:r>
            <a:r>
              <a:rPr lang="en-US" dirty="0"/>
              <a:t>. You don’t want to get some unexpected behavior after 10k lines of code and realize the problem was somewhere around line 1k.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60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1DAA4-72D2-803A-5BC7-5221B7CCF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7C86-8BD3-20D7-BE9F-F3734C61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Agentic 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D2F23-0A6D-CF10-BDA8-A44A3B43A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531620"/>
            <a:ext cx="10331824" cy="5115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Make your setup work for you!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Customized System Prompt</a:t>
            </a:r>
            <a:r>
              <a:rPr lang="en-US" dirty="0"/>
              <a:t>: AGENTS.md is a file that</a:t>
            </a:r>
            <a:br>
              <a:rPr lang="en-US" dirty="0"/>
            </a:br>
            <a:r>
              <a:rPr lang="en-US" dirty="0"/>
              <a:t>	  guides everything you do. They exist for your machine</a:t>
            </a:r>
            <a:br>
              <a:rPr lang="en-US" dirty="0"/>
            </a:br>
            <a:r>
              <a:rPr lang="en-US" dirty="0"/>
              <a:t>	  AND each project.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Skills</a:t>
            </a:r>
            <a:r>
              <a:rPr lang="en-US" dirty="0"/>
              <a:t>: Commands that you AND the model can call when needed.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Hooks</a:t>
            </a:r>
            <a:r>
              <a:rPr lang="en-US" dirty="0"/>
              <a:t>: Deterministic functions that are called at specific times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FA7DC5D-0EFE-04E5-AD29-0A5CCE2DA05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0481" y="1575815"/>
            <a:ext cx="1413319" cy="141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19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7D15-B4B8-DDFB-BB21-7F793B5A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C101-C573-B0AB-5B2C-3F713FB73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Agentic 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BCF37-A093-C082-2F3E-2FEE2232D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531620"/>
            <a:ext cx="10331824" cy="51157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Using the tool is how you get better at the tool.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you’re stuck, </a:t>
            </a:r>
            <a:r>
              <a:rPr lang="en-US" b="1" dirty="0"/>
              <a:t>ask it how to get unstuck</a:t>
            </a:r>
          </a:p>
          <a:p>
            <a:endParaRPr lang="en-US" dirty="0"/>
          </a:p>
          <a:p>
            <a:r>
              <a:rPr lang="en-US" dirty="0"/>
              <a:t>Use it to plan, but also use it to </a:t>
            </a:r>
            <a:r>
              <a:rPr lang="en-US" b="1" dirty="0"/>
              <a:t>surface what you don’t know</a:t>
            </a:r>
            <a:br>
              <a:rPr lang="en-US" dirty="0"/>
            </a:br>
            <a:r>
              <a:rPr lang="en-US" dirty="0"/>
              <a:t>“I want to do X, but I’m new to this space. What am I missing or might not know as a novice at building websites?”</a:t>
            </a:r>
          </a:p>
          <a:p>
            <a:endParaRPr lang="en-US" dirty="0"/>
          </a:p>
          <a:p>
            <a:r>
              <a:rPr lang="en-US" b="1" dirty="0"/>
              <a:t>Have it interview you </a:t>
            </a:r>
            <a:r>
              <a:rPr lang="en-US" dirty="0"/>
              <a:t>about what you’re exactly trying to do</a:t>
            </a:r>
            <a:br>
              <a:rPr lang="en-US" dirty="0"/>
            </a:br>
            <a:r>
              <a:rPr lang="en-US" dirty="0"/>
              <a:t>“I want to build X with these constraints … Interview me until you feel like you understand EXACTLY what I want to build, why, and how.”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77768B0-5255-A789-32FE-6E7E7D247AE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9716" y="1573362"/>
            <a:ext cx="1480375" cy="148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68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02C92-BAD9-DB76-82DD-5F96018F2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7115E-41E2-24B5-E90F-56DF2825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Go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2F27F-0BFF-589D-3DB7-CB7AEE88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825625"/>
            <a:ext cx="10331824" cy="48217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is a good base, but there’s so much more to learn!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PUSH it</a:t>
            </a:r>
            <a:r>
              <a:rPr lang="en-US" dirty="0"/>
              <a:t>. Ask it to do really hard things and evaluate the outputs.</a:t>
            </a:r>
          </a:p>
          <a:p>
            <a:r>
              <a:rPr lang="en-US" dirty="0"/>
              <a:t>Build time-on-task. </a:t>
            </a:r>
            <a:r>
              <a:rPr lang="en-US" b="1" dirty="0"/>
              <a:t>Any task</a:t>
            </a:r>
            <a:r>
              <a:rPr lang="en-US" dirty="0"/>
              <a:t>!</a:t>
            </a:r>
          </a:p>
          <a:p>
            <a:r>
              <a:rPr lang="en-US" b="1" dirty="0"/>
              <a:t>Stay curious! </a:t>
            </a:r>
            <a:r>
              <a:rPr lang="en-US" dirty="0"/>
              <a:t>Ask it questions about itself. </a:t>
            </a:r>
            <a:br>
              <a:rPr lang="en-US" dirty="0"/>
            </a:br>
            <a:r>
              <a:rPr lang="en-US" dirty="0"/>
              <a:t>“Can you help me do X? How?”</a:t>
            </a:r>
          </a:p>
          <a:p>
            <a:endParaRPr lang="en-US" dirty="0"/>
          </a:p>
        </p:txBody>
      </p:sp>
      <p:pic>
        <p:nvPicPr>
          <p:cNvPr id="3074" name="Picture 2" descr="airplane icon">
            <a:extLst>
              <a:ext uri="{FF2B5EF4-FFF2-40B4-BE49-F238E27FC236}">
                <a16:creationId xmlns:a16="http://schemas.microsoft.com/office/drawing/2014/main" id="{2225FB3E-A877-2D81-3836-1CDD98732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723" y="653497"/>
            <a:ext cx="678142" cy="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58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ABFF4-DAAB-BC40-4EEB-C4FCFE362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D192-A342-2AB6-E90D-D2C34A3B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14995-95E9-34AD-67BD-BE9A80304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Whatever we want</a:t>
            </a:r>
          </a:p>
        </p:txBody>
      </p:sp>
      <p:pic>
        <p:nvPicPr>
          <p:cNvPr id="4" name="Picture 4" descr="demo icon">
            <a:extLst>
              <a:ext uri="{FF2B5EF4-FFF2-40B4-BE49-F238E27FC236}">
                <a16:creationId xmlns:a16="http://schemas.microsoft.com/office/drawing/2014/main" id="{18427433-5832-2379-67E0-C9BF2DB7F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712" y="3641715"/>
            <a:ext cx="1322293" cy="132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52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B846B3-9359-47F3-82AD-EE8D98A415CD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1104</Words>
  <Application>Microsoft Macintosh PowerPoint</Application>
  <PresentationFormat>Widescreen</PresentationFormat>
  <Paragraphs>117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Intro to Vibe Coding</vt:lpstr>
      <vt:lpstr>Mason</vt:lpstr>
      <vt:lpstr>PowerPoint Presentation</vt:lpstr>
      <vt:lpstr>Where We’re Going</vt:lpstr>
      <vt:lpstr>First Demo</vt:lpstr>
      <vt:lpstr>Installs (the most boring slide)</vt:lpstr>
      <vt:lpstr>PowerPoint Presentation</vt:lpstr>
      <vt:lpstr>Large Language Model 101</vt:lpstr>
      <vt:lpstr>What Vibe Coding Is</vt:lpstr>
      <vt:lpstr>Planning is Critical</vt:lpstr>
      <vt:lpstr>Anatomy of a Prompt</vt:lpstr>
      <vt:lpstr>Anatomy of a Prompt</vt:lpstr>
      <vt:lpstr>The Core Loop</vt:lpstr>
      <vt:lpstr>What to Avoid</vt:lpstr>
      <vt:lpstr>Advanced Agentic Assisted Development</vt:lpstr>
      <vt:lpstr>Advanced Agentic Assisted Development</vt:lpstr>
      <vt:lpstr>Where to Go Next</vt:lpstr>
      <vt:lpstr>Demos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 Grimshaw</dc:creator>
  <cp:lastModifiedBy>Mason Grimshaw</cp:lastModifiedBy>
  <cp:revision>14</cp:revision>
  <dcterms:created xsi:type="dcterms:W3CDTF">2026-01-29T23:54:04Z</dcterms:created>
  <dcterms:modified xsi:type="dcterms:W3CDTF">2026-04-16T19:55:50Z</dcterms:modified>
</cp:coreProperties>
</file>